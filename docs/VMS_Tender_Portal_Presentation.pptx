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C:\Users\Admin\AppData\Local\Temp\claude\d--xampp-htdocs-vms-system\bd15c53e-03b6-4ac7-99a1-cb6285f6c9c3\scratchpad\vms-manual\pptx-img\university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48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VINAYAKA MISSION'S RESEARCH FOUNDATION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Tender Portal — Phase I Demonstration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718304" y="4160520"/>
            <a:ext cx="2743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343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Dr. Murugan, Deputy Director –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Management · Vice-Chancellor · Registrar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126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In-House IT Web Development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Began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394960" cy="4846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initiative began with </a:t>
            </a:r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Mr. Nagappan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who first raised the need for a proper, transparent system for handling University procurement and vendor tenders.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brought this forward to </a:t>
            </a:r>
            <a:pPr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Murugan, Deputy Director – IT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who took up the initiative and, together with the in-house web development team, translated it into a working Tender Portal.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22392" cy="4846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Request to 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846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started as a request to publish vendor tenders on the University website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Grew, under Dr. Murugan’s direction, into a complete, phased procurement platform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tender publication, vendor registration, online &amp; postal responses, evaluation, and contract management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in-house by the University’s own IT web development team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Team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18311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18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Murugan — Deputy Director, IT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 &amp; technical guidance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5394960" cy="2011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07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Web Development Team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M. Dinakaran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Team Lead, Full-Stack Development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Sanjai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UI / UX Design &amp; Testing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297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743200"/>
            <a:ext cx="5422392" cy="20116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907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&amp; Domain Input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337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Nanthini R O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Digital Librarian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749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 the tender-publication requirement for the Library Vendor Rate Contract, extensively tested Phase I, and provided ongoing functional feedback throughout development.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1188720" y="1371600"/>
            <a:ext cx="9784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began as a request for publishing tenders has evolved into a comprehensive and well-designed system. </a:t>
            </a:r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team’s proactive approach, technical expertise, and commitment to creating a scalable solution are truly commendable.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342900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tested the portal extensively, and the identified issues have been addressed.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4572000"/>
            <a:ext cx="10972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Nanthini R 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Librarian — in an email to the IT Department following Phase I review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Portal Does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e-procurement platform: tenders are published, vendors respond, applications are evaluated, and awards become signed contracts — all tracked in one system.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69748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48840"/>
            <a:ext cx="26974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8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publish tenders — online submission or traditional postal mode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69748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148840"/>
            <a:ext cx="269748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148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83464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register, get approved, and submit eligibility-checked bids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2148840"/>
            <a:ext cx="269748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148840"/>
            <a:ext cx="269748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148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46520" y="283464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reviewed, shortlisted, and evaluated — with an optional committee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0" y="2148840"/>
            <a:ext cx="269748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2148840"/>
            <a:ext cx="26974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2148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&amp; Contract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26880" y="283464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bids become contracts with auto-generated Work / Purchase Orders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</a:t>
            </a:r>
            <a:endParaRPr lang="en-US" sz="2600" dirty="0"/>
          </a:p>
        </p:txBody>
      </p:sp>
      <p:pic>
        <p:nvPicPr>
          <p:cNvPr id="5" name="Image 0" descr="C:\Users\Admin\AppData\Local\Temp\claude\d--xampp-htdocs-vms-system\bd15c53e-03b6-4ac7-99a1-cb6285f6c9c3\scratchpad\vms-manual\pptx-img\roles-a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71600"/>
            <a:ext cx="11457432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Tender Process</a:t>
            </a:r>
            <a:endParaRPr lang="en-US" sz="2600" dirty="0"/>
          </a:p>
        </p:txBody>
      </p:sp>
      <p:pic>
        <p:nvPicPr>
          <p:cNvPr id="5" name="Image 0" descr="C:\Users\Admin\AppData\Local\Temp\claude\d--xampp-htdocs-vms-system\bd15c53e-03b6-4ac7-99a1-cb6285f6c9c3\scratchpad\vms-manual\pptx-img\end-to-end-pro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03120"/>
            <a:ext cx="11091672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— Completed 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creation and publication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submission modes — Online and Postal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self-registration with Admin approval workflow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eligibility screening before a vendor can bid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Extensively tested by the Digital Librarian — identified issues addressed</a:t>
            </a:r>
            <a:endParaRPr lang="en-US" sz="1500" dirty="0"/>
          </a:p>
        </p:txBody>
      </p:sp>
      <p:pic>
        <p:nvPicPr>
          <p:cNvPr id="6" name="Image 0" descr="C:\Users\Admin\AppData\Local\Temp\claude\d--xampp-htdocs-vms-system\bd15c53e-03b6-4ac7-99a1-cb6285f6c9c3\scratchpad\vms-manual\screenshots\ve-02-tenders-on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17320"/>
            <a:ext cx="557784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— ADMIN / PURCHASE OFFICER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Vendor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349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— vendor counts, tender counts by status/type, application funnel, trend charts, recent activity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suspend or reactivate vendor registrations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vendor categories; bulk-approve; export vendor lists to CSV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Categories, and Terms &amp; Conditions masters</a:t>
            </a:r>
            <a:endParaRPr lang="en-US" sz="1350" dirty="0"/>
          </a:p>
        </p:txBody>
      </p:sp>
      <p:pic>
        <p:nvPicPr>
          <p:cNvPr id="6" name="Image 0" descr="C:\Users\Admin\AppData\Local\Temp\claude\d--xampp-htdocs-vms-system\bd15c53e-03b6-4ac7-99a1-cb6285f6c9c3\scratchpad\vms-manual\screenshots\ad-01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325880"/>
            <a:ext cx="5669280" cy="2468880"/>
          </a:xfrm>
          <a:prstGeom prst="rect">
            <a:avLst/>
          </a:prstGeom>
        </p:spPr>
      </p:pic>
      <p:pic>
        <p:nvPicPr>
          <p:cNvPr id="7" name="Image 1" descr="C:\Users\Admin\AppData\Local\Temp\claude\d--xampp-htdocs-vms-system\bd15c53e-03b6-4ac7-99a1-cb6285f6c9c3\scratchpad\vms-manual\screenshots\ad-02-vendors-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3886200"/>
            <a:ext cx="566928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— ADMIN / PURCHASE OFFICER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Creation &amp; Eligibility Screening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349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tenders — online or postal, deadlines, EMD amount, estimated value, public/private visibility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 pre-bid eligibility questionnaire — text, dropdown, radio, checkbox, number, date, or file answers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manually, or schedule auto-publish on a chosen start date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evaluation committee to a specific tender with scoped permissions</a:t>
            </a:r>
            <a:endParaRPr lang="en-US" sz="1350" dirty="0"/>
          </a:p>
        </p:txBody>
      </p:sp>
      <p:pic>
        <p:nvPicPr>
          <p:cNvPr id="6" name="Image 0" descr="C:\Users\Admin\AppData\Local\Temp\claude\d--xampp-htdocs-vms-system\bd15c53e-03b6-4ac7-99a1-cb6285f6c9c3\scratchpad\vms-manual\screenshots\ad-05-tender-cre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325880"/>
            <a:ext cx="5669280" cy="2468880"/>
          </a:xfrm>
          <a:prstGeom prst="rect">
            <a:avLst/>
          </a:prstGeom>
        </p:spPr>
      </p:pic>
      <p:pic>
        <p:nvPicPr>
          <p:cNvPr id="7" name="Image 1" descr="C:\Users\Admin\AppData\Local\Temp\claude\d--xampp-htdocs-vms-system\bd15c53e-03b6-4ac7-99a1-cb6285f6c9c3\scratchpad\vms-manual\screenshots\ad-08-tender-eligibil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3886200"/>
            <a:ext cx="566928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— ADMIN / PURCHASE OFFICER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Award &amp; Contracts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349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received, across every tender, in one list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→ Shortlist → Award workflow — an application can only be awarded once shortlisted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Awarding auto-generates the Contract and Work/Purchase Order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signature collection is a configurable, optional choice per tender — not a fixed requirement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eligibility-check failures, reports, and notifications</a:t>
            </a:r>
            <a:endParaRPr lang="en-US" sz="1350" dirty="0"/>
          </a:p>
        </p:txBody>
      </p:sp>
      <p:pic>
        <p:nvPicPr>
          <p:cNvPr id="6" name="Image 0" descr="C:\Users\Admin\AppData\Local\Temp\claude\d--xampp-htdocs-vms-system\bd15c53e-03b6-4ac7-99a1-cb6285f6c9c3\scratchpad\vms-manual\screenshots\ad-12-applications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325880"/>
            <a:ext cx="5669280" cy="2468880"/>
          </a:xfrm>
          <a:prstGeom prst="rect">
            <a:avLst/>
          </a:prstGeom>
        </p:spPr>
      </p:pic>
      <p:pic>
        <p:nvPicPr>
          <p:cNvPr id="7" name="Image 1" descr="C:\Users\Admin\AppData\Local\Temp\claude\d--xampp-htdocs-vms-system\bd15c53e-03b6-4ac7-99a1-cb6285f6c9c3\scratchpad\vms-manual\screenshots\ad-14-application-award-for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3886200"/>
            <a:ext cx="566928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— TENDER OWNER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&amp; Managing Own Tenders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349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tender lifecycle for tenders they own — create, edit, publish, assign committee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eligibility-builder, analytics, and management tools as Admin, scoped to "my tenders"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enforced server-side via User::canAccessTender() / canManageTender()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Auto-publish works the same way — a scheduled job publishes the tender on its start date</a:t>
            </a:r>
            <a:endParaRPr lang="en-US" sz="1350" dirty="0"/>
          </a:p>
        </p:txBody>
      </p:sp>
      <p:pic>
        <p:nvPicPr>
          <p:cNvPr id="6" name="Image 0" descr="C:\Users\Admin\AppData\Local\Temp\claude\d--xampp-htdocs-vms-system\bd15c53e-03b6-4ac7-99a1-cb6285f6c9c3\scratchpad\vms-manual\screenshots\to-03-tender-cre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325880"/>
            <a:ext cx="5669280" cy="2468880"/>
          </a:xfrm>
          <a:prstGeom prst="rect">
            <a:avLst/>
          </a:prstGeom>
        </p:spPr>
      </p:pic>
      <p:pic>
        <p:nvPicPr>
          <p:cNvPr id="7" name="Image 1" descr="C:\Users\Admin\AppData\Local\Temp\claude\d--xampp-htdocs-vms-system\bd15c53e-03b6-4ac7-99a1-cb6285f6c9c3\scratchpad\vms-manual\screenshots\to-06-committe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3886200"/>
            <a:ext cx="566928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— TENDER OWNER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Reviewing, Shortlisting &amp; Awarding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349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list: Received → Shortlist → Award (trophy icon) for owned tenders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Awarding auto-generates the Contract and Work/Purchase Order, same as Admin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eligibility failures, contracts, and reports scoped to owned tenders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email to the vendor at every stage — shortlisted, rejected, awarded</a:t>
            </a:r>
            <a:endParaRPr lang="en-US" sz="1350" dirty="0"/>
          </a:p>
        </p:txBody>
      </p:sp>
      <p:pic>
        <p:nvPicPr>
          <p:cNvPr id="6" name="Image 0" descr="C:\Users\Admin\AppData\Local\Temp\claude\d--xampp-htdocs-vms-system\bd15c53e-03b6-4ac7-99a1-cb6285f6c9c3\scratchpad\vms-manual\screenshots\to-07-applications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325880"/>
            <a:ext cx="5669280" cy="2468880"/>
          </a:xfrm>
          <a:prstGeom prst="rect">
            <a:avLst/>
          </a:prstGeom>
        </p:spPr>
      </p:pic>
      <p:pic>
        <p:nvPicPr>
          <p:cNvPr id="7" name="Image 1" descr="C:\Users\Admin\AppData\Local\Temp\claude\d--xampp-htdocs-vms-system\bd15c53e-03b6-4ac7-99a1-cb6285f6c9c3\scratchpad\vms-manual\screenshots\to-10-contract-detai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3886200"/>
            <a:ext cx="566928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— EVALUATION COMMITTEE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Review Access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349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a specific tender by Admin or Tender Owner, with a scoped JSON permission set (e.g. shortlist, reject)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assigned tenders and their applications — no tender-management or vendor-management rights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evaluators visibility into bids without exposing the rest of the portal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committee member was added live through this exact screen — see the recorded proof later in this deck</a:t>
            </a:r>
            <a:endParaRPr lang="en-US" sz="1350" dirty="0"/>
          </a:p>
        </p:txBody>
      </p:sp>
      <p:pic>
        <p:nvPicPr>
          <p:cNvPr id="6" name="Image 0" descr="C:\Users\Admin\AppData\Local\Temp\claude\d--xampp-htdocs-vms-system\bd15c53e-03b6-4ac7-99a1-cb6285f6c9c3\scratchpad\vms-manual\screenshots\co-01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325880"/>
            <a:ext cx="5669280" cy="2468880"/>
          </a:xfrm>
          <a:prstGeom prst="rect">
            <a:avLst/>
          </a:prstGeom>
        </p:spPr>
      </p:pic>
      <p:pic>
        <p:nvPicPr>
          <p:cNvPr id="7" name="Image 1" descr="C:\Users\Admin\AppData\Local\Temp\claude\d--xampp-htdocs-vms-system\bd15c53e-03b6-4ac7-99a1-cb6285f6c9c3\scratchpad\vms-manual\screenshots\co-03-applicat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3886200"/>
            <a:ext cx="566928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— VENDOR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Bidding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349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Self-registration, reviewed and approved by Admin before login access is granted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Online and Postal tenders — postal tenders lock documents/address until eligibility passes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apply wizard: tender details → eligibility questionnaire (checked live via AJAX) → bid/technical/financial proposal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fields unlock only after the eligibility check passes</a:t>
            </a:r>
            <a:endParaRPr lang="en-US" sz="1350" dirty="0"/>
          </a:p>
        </p:txBody>
      </p:sp>
      <p:pic>
        <p:nvPicPr>
          <p:cNvPr id="6" name="Image 0" descr="C:\Users\Admin\AppData\Local\Temp\claude\d--xampp-htdocs-vms-system\bd15c53e-03b6-4ac7-99a1-cb6285f6c9c3\scratchpad\vms-manual\screenshots\ve-02-tenders-on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325880"/>
            <a:ext cx="5669280" cy="2468880"/>
          </a:xfrm>
          <a:prstGeom prst="rect">
            <a:avLst/>
          </a:prstGeom>
        </p:spPr>
      </p:pic>
      <p:pic>
        <p:nvPicPr>
          <p:cNvPr id="7" name="Image 1" descr="C:\Users\Admin\AppData\Local\Temp\claude\d--xampp-htdocs-vms-system\bd15c53e-03b6-4ac7-99a1-cb6285f6c9c3\scratchpad\vms-manual\screenshots\ve-05-tender-appl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3886200"/>
            <a:ext cx="566928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— VENDOR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Applications &amp; Contracts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349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application's status: Received → Shortlisted → Awarded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an awarded contract online; a University counter-signature is only required if the Tender Owner configured that tender to need one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standing rate contracts, signing can be skipped entirely and the contract activated immediately on award</a:t>
            </a:r>
            <a:endParaRPr lang="en-US" sz="13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 management and a full notification center</a:t>
            </a:r>
            <a:endParaRPr lang="en-US" sz="1350" dirty="0"/>
          </a:p>
        </p:txBody>
      </p:sp>
      <p:pic>
        <p:nvPicPr>
          <p:cNvPr id="6" name="Image 0" descr="C:\Users\Admin\AppData\Local\Temp\claude\d--xampp-htdocs-vms-system\bd15c53e-03b6-4ac7-99a1-cb6285f6c9c3\scratchpad\vms-manual\screenshots\ve-06-applications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325880"/>
            <a:ext cx="5669280" cy="2468880"/>
          </a:xfrm>
          <a:prstGeom prst="rect">
            <a:avLst/>
          </a:prstGeom>
        </p:spPr>
      </p:pic>
      <p:pic>
        <p:nvPicPr>
          <p:cNvPr id="7" name="Image 1" descr="C:\Users\Admin\AppData\Local\Temp\claude\d--xampp-htdocs-vms-system\bd15c53e-03b6-4ac7-99a1-cb6285f6c9c3\scratchpad\vms-manual\screenshots\ve-08-contracts-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80760" y="3886200"/>
            <a:ext cx="566928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— In Development &amp; Refinement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review, shortlisting and award workflow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Contract generation on award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/ Purchase Order generation with line items and GST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refined in ongoing consultation with the Purchase Officer, who will serve as the system’s primary administrator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analytics modules</a:t>
            </a:r>
            <a:endParaRPr lang="en-US" sz="1500" dirty="0"/>
          </a:p>
        </p:txBody>
      </p:sp>
      <p:pic>
        <p:nvPicPr>
          <p:cNvPr id="6" name="Image 0" descr="C:\Users\Admin\AppData\Local\Temp\claude\d--xampp-htdocs-vms-system\bd15c53e-03b6-4ac7-99a1-cb6285f6c9c3\scratchpad\vms-manual\screenshots-live\27-to-award-result-contra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17320"/>
            <a:ext cx="557784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With a Real, Live Test Run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demonstration, the complete workflow was executed live on the running system — a real vendor registered, a real tender was published, a real application was submitted, reviewed, awarded, and the contract signed.</a:t>
            </a:r>
            <a:endParaRPr lang="en-US" sz="1450" dirty="0"/>
          </a:p>
        </p:txBody>
      </p:sp>
      <p:pic>
        <p:nvPicPr>
          <p:cNvPr id="6" name="Image 0" descr="C:\Users\Admin\AppData\Local\Temp\claude\d--xampp-htdocs-vms-system\bd15c53e-03b6-4ac7-99a1-cb6285f6c9c3\scratchpad\vms-manual\screenshots-live\21-ve-application-submit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148840"/>
            <a:ext cx="5623560" cy="4160520"/>
          </a:xfrm>
          <a:prstGeom prst="rect">
            <a:avLst/>
          </a:prstGeom>
        </p:spPr>
      </p:pic>
      <p:pic>
        <p:nvPicPr>
          <p:cNvPr id="7" name="Image 1" descr="C:\Users\Admin\AppData\Local\Temp\claude\d--xampp-htdocs-vms-system\bd15c53e-03b6-4ac7-99a1-cb6285f6c9c3\scratchpad\vms-manual\screenshots-live\29-ve-contract-signed-by-vendo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2148840"/>
            <a:ext cx="5623560" cy="4160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is Complete, Tested, and Ready to Go Live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Management approval to make the portal live immediately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live tender: the Library Vendor Rate Contract, as requested by the Digital Librarian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(evaluation, award, contracts) continues refinement with the Purchase Officer</a:t>
            </a:r>
            <a:endParaRPr lang="en-US" sz="1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Management suggestions welcomed and will be incorporated as development continues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3474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8745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portal design and current functionality demonstrated today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18745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2628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portal to go live for the Library Vendor Rate Contract Tender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92440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0" y="18745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2788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Phase II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3832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refinement of the review, award and contract workflow with the Purchase Officer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Management System — University Tender Portal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718304" y="4023360"/>
            <a:ext cx="27432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51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Murugan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Director –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Web Development Team: Mr. M. Dinakaran · Sanjai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2179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Vinayaka Mission's Research Foundation — IT Department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Management System — Tender Portal</dc:title>
  <dc:subject>PptxGenJS Presentation</dc:subject>
  <dc:creator>IT Department — Vinayaka Mission's Research Foundation</dc:creator>
  <cp:lastModifiedBy>IT Department — Vinayaka Mission's Research Foundation</cp:lastModifiedBy>
  <cp:revision>1</cp:revision>
  <dcterms:created xsi:type="dcterms:W3CDTF">2026-07-05T17:25:35Z</dcterms:created>
  <dcterms:modified xsi:type="dcterms:W3CDTF">2026-07-05T17:25:35Z</dcterms:modified>
</cp:coreProperties>
</file>